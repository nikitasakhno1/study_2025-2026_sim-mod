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2" r:id="rId5"/>
    <p:sldId id="273" r:id="rId6"/>
    <p:sldId id="274" r:id="rId7"/>
    <p:sldId id="275" r:id="rId8"/>
    <p:sldId id="276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0608-14D1-4C76-9F62-91152B5CD37A}" v="71" dt="2026-10-08T10:12:47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№6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 err="1"/>
              <a:t>Иммитационное</a:t>
            </a:r>
            <a:r>
              <a:rPr lang="ru-RU" sz="3100" b="1" dirty="0"/>
              <a:t>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Реализовать модель распространения эпидемии SIR с использованием сетей Петри и исследовать её детерминированное и стохастическое поведение.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построить сеть Петри для SIR-модели;</a:t>
            </a:r>
          </a:p>
          <a:p>
            <a:pPr lvl="0"/>
            <a:r>
              <a:rPr lang="ru-RU" dirty="0"/>
              <a:t>задать начальное состояние системы;</a:t>
            </a:r>
          </a:p>
          <a:p>
            <a:pPr lvl="0"/>
            <a:r>
              <a:rPr lang="ru-RU" dirty="0"/>
              <a:t>выполнить детерминированное моделирование;</a:t>
            </a:r>
          </a:p>
          <a:p>
            <a:pPr lvl="0"/>
            <a:r>
              <a:rPr lang="ru-RU" dirty="0"/>
              <a:t>выполнить стохастическое моделирование;</a:t>
            </a:r>
          </a:p>
          <a:p>
            <a:pPr lvl="0"/>
            <a:r>
              <a:rPr lang="ru-RU" dirty="0"/>
              <a:t>исследовать влияние параметра β;</a:t>
            </a:r>
          </a:p>
          <a:p>
            <a:pPr lvl="0"/>
            <a:r>
              <a:rPr lang="ru-RU" dirty="0"/>
              <a:t>сравнить полученные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Состояния населения:</a:t>
            </a:r>
            <a:endParaRPr lang="ru-RU" dirty="0"/>
          </a:p>
          <a:p>
            <a:pPr lvl="0"/>
            <a:r>
              <a:rPr lang="ru-RU" b="1" dirty="0"/>
              <a:t>S</a:t>
            </a:r>
            <a:r>
              <a:rPr lang="ru-RU" dirty="0"/>
              <a:t> — восприимчивые к заболеванию;</a:t>
            </a:r>
          </a:p>
          <a:p>
            <a:pPr lvl="0"/>
            <a:r>
              <a:rPr lang="ru-RU" b="1" dirty="0"/>
              <a:t>I</a:t>
            </a:r>
            <a:r>
              <a:rPr lang="ru-RU" dirty="0"/>
              <a:t> — инфицированные;</a:t>
            </a:r>
          </a:p>
          <a:p>
            <a:pPr lvl="0"/>
            <a:r>
              <a:rPr lang="ru-RU" b="1" dirty="0"/>
              <a:t>R</a:t>
            </a:r>
            <a:r>
              <a:rPr lang="ru-RU" dirty="0"/>
              <a:t> — выздоровевшие.</a:t>
            </a:r>
          </a:p>
          <a:p>
            <a:r>
              <a:rPr lang="ru-RU" b="1" dirty="0"/>
              <a:t>Начальное состояние:</a:t>
            </a:r>
            <a:endParaRPr lang="ru-RU" dirty="0"/>
          </a:p>
          <a:p>
            <a:r>
              <a:rPr lang="ru-RU" dirty="0"/>
              <a:t>S₀ = 990</a:t>
            </a:r>
          </a:p>
          <a:p>
            <a:r>
              <a:rPr lang="ru-RU" dirty="0"/>
              <a:t>I₀ = 10</a:t>
            </a:r>
          </a:p>
          <a:p>
            <a:r>
              <a:rPr lang="ru-RU" dirty="0"/>
              <a:t>R₀ = 0</a:t>
            </a:r>
          </a:p>
          <a:p>
            <a:r>
              <a:rPr lang="ru-RU" dirty="0"/>
              <a:t>Общее число участников:</a:t>
            </a:r>
          </a:p>
          <a:p>
            <a:r>
              <a:rPr lang="ru-RU" dirty="0"/>
              <a:t>N = S + I + R = 1000</a:t>
            </a:r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BF2C0-4AFA-1B45-8A5D-D8CB79CD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128762-501C-A13D-39B2-FC9DA6390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Позиции сети:</a:t>
            </a:r>
            <a:endParaRPr lang="ru-RU" dirty="0"/>
          </a:p>
          <a:p>
            <a:r>
              <a:rPr lang="ru-RU" dirty="0"/>
              <a:t>S — восприимчивые</a:t>
            </a:r>
          </a:p>
          <a:p>
            <a:r>
              <a:rPr lang="ru-RU" dirty="0"/>
              <a:t>I — инфицированные</a:t>
            </a:r>
          </a:p>
          <a:p>
            <a:r>
              <a:rPr lang="ru-RU" dirty="0"/>
              <a:t>R — выздоровевшие</a:t>
            </a:r>
          </a:p>
          <a:p>
            <a:r>
              <a:rPr lang="ru-RU" b="1" dirty="0"/>
              <a:t>Переходы:</a:t>
            </a:r>
            <a:endParaRPr lang="ru-RU" dirty="0"/>
          </a:p>
          <a:p>
            <a:r>
              <a:rPr lang="ru-RU" dirty="0"/>
              <a:t>S + I → I + I</a:t>
            </a:r>
          </a:p>
          <a:p>
            <a:r>
              <a:rPr lang="ru-RU" dirty="0"/>
              <a:t>Заражение с интенсивностью </a:t>
            </a:r>
            <a:r>
              <a:rPr lang="ru-RU" b="1" dirty="0"/>
              <a:t>β</a:t>
            </a:r>
            <a:r>
              <a:rPr lang="ru-RU" dirty="0"/>
              <a:t>.</a:t>
            </a:r>
          </a:p>
          <a:p>
            <a:r>
              <a:rPr lang="ru-RU" dirty="0"/>
              <a:t>I → R</a:t>
            </a:r>
          </a:p>
          <a:p>
            <a:r>
              <a:rPr lang="ru-RU" dirty="0"/>
              <a:t>Выздоровление с интенсивностью </a:t>
            </a:r>
            <a:r>
              <a:rPr lang="ru-RU" b="1" dirty="0"/>
              <a:t>γ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1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F4E6515-8C82-A949-BB96-BDAECD278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663" y="1952625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2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CD15A14-F01C-EA19-69E9-7AF98CB27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663" y="1952625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CAA769-4636-CC41-9C07-EF8CED847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133600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Полученные результаты показывают, что увеличение β приводит к более интенсивному распространению инфекции и увеличению масштаба эпидемии.</a:t>
            </a:r>
          </a:p>
          <a:p>
            <a:r>
              <a:rPr lang="ru-RU" dirty="0"/>
              <a:t>Таким образом, в работе была построена SIR-модель в виде сети Петри, реализованы два подхода к моделированию — детерминированный и стохастический, проведено их сравнение и исследовано влияние основного параметра заражения. Поставленная цель лабораторной работы была достигнута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209</Words>
  <Application>Microsoft Office PowerPoint</Application>
  <PresentationFormat>Широкоэкранный</PresentationFormat>
  <Paragraphs>39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Ретро</vt:lpstr>
      <vt:lpstr>Лабораторная работа №6  Иммитационное моделирование </vt:lpstr>
      <vt:lpstr>Цель</vt:lpstr>
      <vt:lpstr>Задачи</vt:lpstr>
      <vt:lpstr>Выполнение</vt:lpstr>
      <vt:lpstr>Выполнение</vt:lpstr>
      <vt:lpstr>Случай 1</vt:lpstr>
      <vt:lpstr>Случай 2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2026-10-08T10:13:11Z</dcterms:modified>
</cp:coreProperties>
</file>