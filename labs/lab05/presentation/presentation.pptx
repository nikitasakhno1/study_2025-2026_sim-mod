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2" r:id="rId5"/>
    <p:sldId id="273" r:id="rId6"/>
    <p:sldId id="274" r:id="rId7"/>
    <p:sldId id="275" r:id="rId8"/>
    <p:sldId id="276" r:id="rId9"/>
    <p:sldId id="277" r:id="rId10"/>
    <p:sldId id="27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D80608-14D1-4C76-9F62-91152B5CD37A}" v="65" dt="2026-10-08T06:53:09.6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229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756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5372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1226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07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7737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205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1422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4040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5310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67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5135" y="758952"/>
            <a:ext cx="11602065" cy="3566160"/>
          </a:xfrm>
        </p:spPr>
        <p:txBody>
          <a:bodyPr>
            <a:normAutofit/>
          </a:bodyPr>
          <a:lstStyle/>
          <a:p>
            <a:r>
              <a:rPr lang="ru-RU" b="1" dirty="0"/>
              <a:t>Лабораторная работа №5</a:t>
            </a:r>
            <a:br>
              <a:rPr lang="ru-RU" b="1" dirty="0"/>
            </a:br>
            <a:r>
              <a:rPr lang="ru-RU" b="1" dirty="0"/>
              <a:t> </a:t>
            </a:r>
            <a:r>
              <a:rPr lang="ru-RU" sz="3100" b="1" dirty="0" err="1"/>
              <a:t>Иммитационное</a:t>
            </a:r>
            <a:r>
              <a:rPr lang="ru-RU" sz="3100" b="1" dirty="0"/>
              <a:t> моделирование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 </a:t>
            </a:r>
            <a:r>
              <a:rPr lang="ru-RU" dirty="0" err="1"/>
              <a:t>никита</a:t>
            </a:r>
            <a:r>
              <a:rPr lang="ru-RU" dirty="0"/>
              <a:t> 1132230298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7071" y="2148763"/>
            <a:ext cx="7729728" cy="3101983"/>
          </a:xfrm>
        </p:spPr>
        <p:txBody>
          <a:bodyPr/>
          <a:lstStyle/>
          <a:p>
            <a:r>
              <a:rPr lang="ru-RU" dirty="0"/>
              <a:t>Построить сеть Петри для задачи «Обедающие философы», исследовать возникновение взаимной блокировки и реализовать способ её предотвращения.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Задачи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ED3936-E976-FA50-7AB2-BE6D49B80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>
            <a:normAutofit/>
          </a:bodyPr>
          <a:lstStyle/>
          <a:p>
            <a:pPr lvl="0"/>
            <a:r>
              <a:rPr lang="ru-RU" dirty="0"/>
              <a:t>построить классическую сеть Петри;</a:t>
            </a:r>
          </a:p>
          <a:p>
            <a:pPr lvl="0"/>
            <a:r>
              <a:rPr lang="ru-RU" dirty="0"/>
              <a:t>выполнить стохастическое моделирование;</a:t>
            </a:r>
          </a:p>
          <a:p>
            <a:pPr lvl="0"/>
            <a:r>
              <a:rPr lang="ru-RU" dirty="0"/>
              <a:t>обнаружить состояние </a:t>
            </a:r>
            <a:r>
              <a:rPr lang="ru-RU" dirty="0" err="1"/>
              <a:t>deadlock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построить сеть с арбитром;</a:t>
            </a:r>
          </a:p>
          <a:p>
            <a:pPr lvl="0"/>
            <a:r>
              <a:rPr lang="ru-RU" dirty="0"/>
              <a:t>сравнить результаты моделирования;</a:t>
            </a:r>
          </a:p>
          <a:p>
            <a:pPr lvl="0"/>
            <a:r>
              <a:rPr lang="ru-RU" dirty="0"/>
              <a:t>визуализировать изменение состояний системы;</a:t>
            </a:r>
          </a:p>
          <a:p>
            <a:pPr lvl="0"/>
            <a:r>
              <a:rPr lang="ru-RU" dirty="0"/>
              <a:t>выполнить генерацию кода, </a:t>
            </a:r>
            <a:r>
              <a:rPr lang="ru-RU" dirty="0" err="1"/>
              <a:t>Notebook</a:t>
            </a:r>
            <a:r>
              <a:rPr lang="ru-RU" dirty="0"/>
              <a:t> и документации с помощью </a:t>
            </a:r>
            <a:r>
              <a:rPr lang="ru-RU" dirty="0" err="1"/>
              <a:t>Literate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A4547B48-987D-8DBE-820A-F8C2E4FC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8697" y="2198914"/>
            <a:ext cx="10301045" cy="3670180"/>
          </a:xfrm>
        </p:spPr>
        <p:txBody>
          <a:bodyPr>
            <a:normAutofit/>
          </a:bodyPr>
          <a:lstStyle/>
          <a:p>
            <a:r>
              <a:rPr lang="ru-RU" dirty="0"/>
              <a:t>Каждый философ последовательно проходит состояния:</a:t>
            </a:r>
          </a:p>
          <a:p>
            <a:r>
              <a:rPr lang="ru-RU" b="1" dirty="0"/>
              <a:t>Размышляет → Голоден → Ест → Размышляет</a:t>
            </a:r>
            <a:endParaRPr lang="ru-RU" dirty="0"/>
          </a:p>
          <a:p>
            <a:r>
              <a:rPr lang="ru-RU" dirty="0"/>
              <a:t>Для начала еды философу необходимо получить </a:t>
            </a:r>
            <a:r>
              <a:rPr lang="ru-RU" b="1" dirty="0"/>
              <a:t>две соседние вилки</a:t>
            </a:r>
            <a:r>
              <a:rPr lang="ru-RU" dirty="0"/>
              <a:t>.</a:t>
            </a:r>
          </a:p>
          <a:p>
            <a:r>
              <a:rPr lang="ru-RU" dirty="0"/>
              <a:t>Основная проблема — несколько философов могут одновременно захватить по одной вилке и ожидать вторую.</a:t>
            </a:r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30E5C-053F-5A6F-E3BA-A39AAE9A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FBF2C0-4AFA-1B45-8A5D-D8CB79CD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B128762-501C-A13D-39B2-FC9DA6390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каждого философа используются позиции:</a:t>
            </a:r>
          </a:p>
          <a:p>
            <a:pPr lvl="0"/>
            <a:r>
              <a:rPr lang="ru-RU" dirty="0" err="1"/>
              <a:t>Think</a:t>
            </a:r>
            <a:r>
              <a:rPr lang="ru-RU" dirty="0"/>
              <a:t> — философ размышляет;</a:t>
            </a:r>
          </a:p>
          <a:p>
            <a:pPr lvl="0"/>
            <a:r>
              <a:rPr lang="ru-RU" dirty="0" err="1"/>
              <a:t>Hungry</a:t>
            </a:r>
            <a:r>
              <a:rPr lang="ru-RU" dirty="0"/>
              <a:t> — философ ожидает вилки;</a:t>
            </a:r>
          </a:p>
          <a:p>
            <a:pPr lvl="0"/>
            <a:r>
              <a:rPr lang="ru-RU" dirty="0" err="1"/>
              <a:t>Eat</a:t>
            </a:r>
            <a:r>
              <a:rPr lang="ru-RU" dirty="0"/>
              <a:t> — философ ест;</a:t>
            </a:r>
          </a:p>
          <a:p>
            <a:pPr lvl="0"/>
            <a:r>
              <a:rPr lang="ru-RU" dirty="0" err="1"/>
              <a:t>Fork</a:t>
            </a:r>
            <a:r>
              <a:rPr lang="ru-RU" dirty="0"/>
              <a:t> — свободная вилка.</a:t>
            </a:r>
          </a:p>
          <a:p>
            <a:r>
              <a:rPr lang="ru-RU" dirty="0"/>
              <a:t>Переходы:</a:t>
            </a:r>
          </a:p>
          <a:p>
            <a:pPr lvl="0"/>
            <a:r>
              <a:rPr lang="ru-RU" dirty="0" err="1"/>
              <a:t>GetLeft</a:t>
            </a:r>
            <a:r>
              <a:rPr lang="ru-RU" dirty="0"/>
              <a:t> — взять левую вилку;</a:t>
            </a:r>
          </a:p>
          <a:p>
            <a:pPr lvl="0"/>
            <a:r>
              <a:rPr lang="ru-RU" dirty="0" err="1"/>
              <a:t>GetRight</a:t>
            </a:r>
            <a:r>
              <a:rPr lang="ru-RU" dirty="0"/>
              <a:t> — взять правую вилку;</a:t>
            </a:r>
          </a:p>
          <a:p>
            <a:pPr lvl="0"/>
            <a:r>
              <a:rPr lang="ru-RU" dirty="0" err="1"/>
              <a:t>PutForks</a:t>
            </a:r>
            <a:r>
              <a:rPr lang="ru-RU" dirty="0"/>
              <a:t> — освободить вилки.</a:t>
            </a:r>
          </a:p>
          <a:p>
            <a:r>
              <a:rPr lang="ru-RU" dirty="0"/>
              <a:t>Начальное состояние: все философы размышляют, все вилки свободны</a:t>
            </a:r>
          </a:p>
        </p:txBody>
      </p:sp>
    </p:spTree>
    <p:extLst>
      <p:ext uri="{BB962C8B-B14F-4D97-AF65-F5344CB8AC3E}">
        <p14:creationId xmlns:p14="http://schemas.microsoft.com/office/powerpoint/2010/main" val="732051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81069-BBE0-528B-73FE-2B71B19ED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E67355-ED20-8E73-C497-0893DC31C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1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685A50-B2E6-9DAB-9156-48EF292FF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При неблагоприятном порядке срабатывания переходов каждый философ может получить одну вилку.</a:t>
            </a:r>
          </a:p>
          <a:p>
            <a:r>
              <a:rPr lang="ru-RU" dirty="0"/>
              <a:t>В результате возникает состояние:</a:t>
            </a:r>
          </a:p>
          <a:p>
            <a:r>
              <a:rPr lang="ru-RU" b="1" dirty="0"/>
              <a:t>Философ 1 → ждёт вторую вилку</a:t>
            </a:r>
            <a:br>
              <a:rPr lang="ru-RU" dirty="0"/>
            </a:br>
            <a:r>
              <a:rPr lang="ru-RU" b="1" dirty="0"/>
              <a:t>Философ 2 → ждёт вторую вилку</a:t>
            </a:r>
            <a:br>
              <a:rPr lang="ru-RU" dirty="0"/>
            </a:br>
            <a:r>
              <a:rPr lang="ru-RU" b="1" dirty="0"/>
              <a:t>Философ 3 → ждёт вторую вилку</a:t>
            </a:r>
            <a:br>
              <a:rPr lang="ru-RU" dirty="0"/>
            </a:br>
            <a:r>
              <a:rPr lang="ru-RU" b="1" dirty="0"/>
              <a:t>Философ 4 → ждёт вторую вилку</a:t>
            </a:r>
            <a:br>
              <a:rPr lang="ru-RU" dirty="0"/>
            </a:br>
            <a:r>
              <a:rPr lang="ru-RU" b="1" dirty="0"/>
              <a:t>Философ 5 → ждёт вторую вилку</a:t>
            </a:r>
            <a:endParaRPr lang="ru-RU" dirty="0"/>
          </a:p>
          <a:p>
            <a:r>
              <a:rPr lang="ru-RU" dirty="0"/>
              <a:t>Ни один философ не может продолжить выполнение.</a:t>
            </a:r>
          </a:p>
          <a:p>
            <a:r>
              <a:rPr lang="ru-RU" b="1" dirty="0"/>
              <a:t>Результат: </a:t>
            </a:r>
            <a:r>
              <a:rPr lang="ru-RU" b="1" dirty="0" err="1"/>
              <a:t>deadlock</a:t>
            </a:r>
            <a:r>
              <a:rPr lang="ru-RU" b="1" dirty="0"/>
              <a:t> = </a:t>
            </a:r>
            <a:r>
              <a:rPr lang="ru-RU" b="1" dirty="0" err="1"/>
              <a:t>true</a:t>
            </a:r>
            <a:r>
              <a:rPr lang="ru-RU" b="1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172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858ED-100F-B97E-8D3D-26AD1E866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2373F7-1D26-E9A2-E23C-066AEC1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Случай 2</a:t>
            </a:r>
            <a:endParaRPr lang="en-US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CC53404-2021-B975-D678-2249043BB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моделирования использовался </a:t>
            </a:r>
            <a:r>
              <a:rPr lang="ru-RU" b="1" dirty="0"/>
              <a:t>стохастический алгоритм </a:t>
            </a:r>
            <a:r>
              <a:rPr lang="ru-RU" b="1" dirty="0" err="1"/>
              <a:t>Gillespie</a:t>
            </a:r>
            <a:r>
              <a:rPr lang="ru-RU" dirty="0"/>
              <a:t>.</a:t>
            </a:r>
          </a:p>
          <a:p>
            <a:r>
              <a:rPr lang="ru-RU" dirty="0"/>
              <a:t>Параметры эксперимента:</a:t>
            </a:r>
          </a:p>
          <a:p>
            <a:pPr lvl="0"/>
            <a:r>
              <a:rPr lang="ru-RU" dirty="0"/>
              <a:t>количество философов: </a:t>
            </a:r>
            <a:r>
              <a:rPr lang="ru-RU" b="1" dirty="0"/>
              <a:t>N = 5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время моделирования: </a:t>
            </a:r>
            <a:r>
              <a:rPr lang="ru-RU" b="1" dirty="0"/>
              <a:t>T = 50</a:t>
            </a:r>
            <a:r>
              <a:rPr lang="ru-RU" dirty="0"/>
              <a:t>;</a:t>
            </a:r>
          </a:p>
          <a:p>
            <a:pPr lvl="0"/>
            <a:r>
              <a:rPr lang="ru-RU" dirty="0"/>
              <a:t>скорости переходов: единичные;</a:t>
            </a:r>
          </a:p>
          <a:p>
            <a:pPr lvl="0"/>
            <a:r>
              <a:rPr lang="ru-RU" dirty="0"/>
              <a:t>генератор случайных чисел: фиксированный </a:t>
            </a:r>
            <a:r>
              <a:rPr lang="ru-RU" dirty="0" err="1"/>
              <a:t>seed</a:t>
            </a:r>
            <a:r>
              <a:rPr lang="ru-RU" dirty="0"/>
              <a:t> 123.</a:t>
            </a:r>
          </a:p>
          <a:p>
            <a:r>
              <a:rPr lang="ru-RU" dirty="0"/>
              <a:t>В результате формировались таблицы изменения маркировки сети и графики состояний философов.</a:t>
            </a:r>
          </a:p>
        </p:txBody>
      </p:sp>
    </p:spTree>
    <p:extLst>
      <p:ext uri="{BB962C8B-B14F-4D97-AF65-F5344CB8AC3E}">
        <p14:creationId xmlns:p14="http://schemas.microsoft.com/office/powerpoint/2010/main" val="1341055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B7F8D-4CA4-B215-0C80-A959B4515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6BB426-ABB7-03B0-8373-0418D666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F648854-BE33-F513-4AD5-F5610397A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826" y="1846263"/>
            <a:ext cx="3431637" cy="429169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BE408A5-D323-2A10-9502-D9C81F3F7A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426" y="1846263"/>
            <a:ext cx="3431637" cy="429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226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53864-EC03-4ED0-3DF0-AA17F2778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CB95D3-7CD2-2388-585C-DA84B6B6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4" y="263527"/>
            <a:ext cx="3690257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dirty="0"/>
              <a:t>Выполнение</a:t>
            </a:r>
            <a:endParaRPr lang="en-US" dirty="0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F96646EF-8736-B6CD-5385-38D12E4C3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4346" y="1846263"/>
            <a:ext cx="5363633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01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ходе лабораторной работы была построена и исследована сеть Петри для задачи «Обедающие философы».</a:t>
            </a:r>
          </a:p>
          <a:p>
            <a:r>
              <a:rPr lang="ru-RU" dirty="0"/>
              <a:t>Классическая модель продемонстрировала возникновение </a:t>
            </a:r>
            <a:r>
              <a:rPr lang="ru-RU" b="1" dirty="0" err="1"/>
              <a:t>deadlock</a:t>
            </a:r>
            <a:r>
              <a:rPr lang="ru-RU" dirty="0"/>
              <a:t> при конкуренции философов за вилки.</a:t>
            </a:r>
          </a:p>
          <a:p>
            <a:r>
              <a:rPr lang="ru-RU" dirty="0"/>
              <a:t>Добавление </a:t>
            </a:r>
            <a:r>
              <a:rPr lang="ru-RU" b="1" dirty="0"/>
              <a:t>арбитра</a:t>
            </a:r>
            <a:r>
              <a:rPr lang="ru-RU" dirty="0"/>
              <a:t> позволило предотвратить взаимную блокировку.</a:t>
            </a:r>
          </a:p>
          <a:p>
            <a:r>
              <a:rPr lang="ru-RU" dirty="0"/>
              <a:t>Таким образом, сети Петри позволяют наглядно исследовать параллельные процессы, конфликты за ресурсы и способы предотвращения блокировок.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</TotalTime>
  <Words>347</Words>
  <Application>Microsoft Office PowerPoint</Application>
  <PresentationFormat>Широкоэкранный</PresentationFormat>
  <Paragraphs>50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Ретро</vt:lpstr>
      <vt:lpstr>Лабораторная работа №5  Иммитационное моделирование </vt:lpstr>
      <vt:lpstr>Цель</vt:lpstr>
      <vt:lpstr>Задачи</vt:lpstr>
      <vt:lpstr>Выполнение</vt:lpstr>
      <vt:lpstr>Выполнение</vt:lpstr>
      <vt:lpstr>Случай 1</vt:lpstr>
      <vt:lpstr>Случай 2</vt:lpstr>
      <vt:lpstr>Выполнение</vt:lpstr>
      <vt:lpstr>Выполнение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28</cp:revision>
  <dcterms:created xsi:type="dcterms:W3CDTF">2023-10-14T19:58:32Z</dcterms:created>
  <dcterms:modified xsi:type="dcterms:W3CDTF">2026-10-08T08:08:10Z</dcterms:modified>
</cp:coreProperties>
</file>