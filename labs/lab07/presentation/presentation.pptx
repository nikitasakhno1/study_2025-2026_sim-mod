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2" r:id="rId5"/>
    <p:sldId id="273" r:id="rId6"/>
    <p:sldId id="274" r:id="rId7"/>
    <p:sldId id="275" r:id="rId8"/>
    <p:sldId id="276" r:id="rId9"/>
    <p:sldId id="277" r:id="rId10"/>
    <p:sldId id="278" r:id="rId11"/>
    <p:sldId id="27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D80608-14D1-4C76-9F62-91152B5CD37A}" v="79" dt="2026-10-08T11:23:17.1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22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75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37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226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073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73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205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85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42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04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31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96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135" y="758952"/>
            <a:ext cx="11602065" cy="3566160"/>
          </a:xfrm>
        </p:spPr>
        <p:txBody>
          <a:bodyPr>
            <a:normAutofit/>
          </a:bodyPr>
          <a:lstStyle/>
          <a:p>
            <a:r>
              <a:rPr lang="ru-RU" b="1" dirty="0"/>
              <a:t>Лабораторная работа №7</a:t>
            </a:r>
            <a:br>
              <a:rPr lang="ru-RU" b="1" dirty="0"/>
            </a:br>
            <a:r>
              <a:rPr lang="ru-RU" b="1" dirty="0"/>
              <a:t> </a:t>
            </a:r>
            <a:r>
              <a:rPr lang="ru-RU" sz="3100" b="1" dirty="0"/>
              <a:t>Имитационное моделирование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 </a:t>
            </a:r>
            <a:r>
              <a:rPr lang="ru-RU" dirty="0" err="1"/>
              <a:t>никита</a:t>
            </a:r>
            <a:r>
              <a:rPr lang="ru-RU" dirty="0"/>
              <a:t> 1132230298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071" y="2148763"/>
            <a:ext cx="7729728" cy="3101983"/>
          </a:xfrm>
        </p:spPr>
        <p:txBody>
          <a:bodyPr/>
          <a:lstStyle/>
          <a:p>
            <a:r>
              <a:rPr lang="ru-RU" dirty="0"/>
              <a:t>Освоить дискретно-событийное моделирование на языке </a:t>
            </a:r>
            <a:r>
              <a:rPr lang="ru-RU" dirty="0" err="1"/>
              <a:t>Julia</a:t>
            </a:r>
            <a:r>
              <a:rPr lang="ru-RU" dirty="0"/>
              <a:t> и исследовать модели M/M/c и Росса.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Задачи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ED3936-E976-FA50-7AB2-BE6D49B80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pPr lvl="0"/>
            <a:r>
              <a:rPr lang="ru-RU" dirty="0"/>
              <a:t>реализовать модель M/M/c;</a:t>
            </a:r>
          </a:p>
          <a:p>
            <a:pPr lvl="0"/>
            <a:r>
              <a:rPr lang="ru-RU" dirty="0"/>
              <a:t>реализовать модель Росса;</a:t>
            </a:r>
          </a:p>
          <a:p>
            <a:pPr lvl="0"/>
            <a:r>
              <a:rPr lang="ru-RU" dirty="0"/>
              <a:t>выполнить серии имитационных экспериментов;</a:t>
            </a:r>
          </a:p>
          <a:p>
            <a:pPr lvl="0"/>
            <a:r>
              <a:rPr lang="ru-RU" dirty="0"/>
              <a:t>исследовать влияние количества машин и ремонтников;</a:t>
            </a:r>
          </a:p>
          <a:p>
            <a:pPr lvl="0"/>
            <a:r>
              <a:rPr lang="ru-RU" dirty="0"/>
              <a:t>получить численные результаты;</a:t>
            </a:r>
          </a:p>
          <a:p>
            <a:pPr lvl="0"/>
            <a:r>
              <a:rPr lang="ru-RU" dirty="0"/>
              <a:t>построить графики;</a:t>
            </a:r>
          </a:p>
          <a:p>
            <a:pPr lvl="0"/>
            <a:r>
              <a:rPr lang="ru-RU" dirty="0"/>
              <a:t>сохранить результаты моделирования.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4547B48-987D-8DBE-820A-F8C2E4FC4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697" y="2198914"/>
            <a:ext cx="10301045" cy="3670180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Программные средства</a:t>
            </a:r>
          </a:p>
          <a:p>
            <a:r>
              <a:rPr lang="ru-RU" b="1" dirty="0"/>
              <a:t>Язык:</a:t>
            </a:r>
            <a:r>
              <a:rPr lang="ru-RU" dirty="0"/>
              <a:t> </a:t>
            </a:r>
            <a:r>
              <a:rPr lang="ru-RU" dirty="0" err="1"/>
              <a:t>Julia</a:t>
            </a:r>
            <a:endParaRPr lang="ru-RU" dirty="0"/>
          </a:p>
          <a:p>
            <a:r>
              <a:rPr lang="ru-RU" b="1" dirty="0"/>
              <a:t>Основные пакеты:</a:t>
            </a:r>
            <a:endParaRPr lang="ru-RU" dirty="0"/>
          </a:p>
          <a:p>
            <a:pPr lvl="0"/>
            <a:r>
              <a:rPr lang="ru-RU" dirty="0" err="1"/>
              <a:t>ConcurrentSim</a:t>
            </a:r>
            <a:r>
              <a:rPr lang="ru-RU" dirty="0"/>
              <a:t> — дискретно-событийное моделирование;</a:t>
            </a:r>
          </a:p>
          <a:p>
            <a:pPr lvl="0"/>
            <a:r>
              <a:rPr lang="ru-RU" dirty="0" err="1"/>
              <a:t>Distributions</a:t>
            </a:r>
            <a:r>
              <a:rPr lang="ru-RU" dirty="0"/>
              <a:t> — вероятностные распределения;</a:t>
            </a:r>
          </a:p>
          <a:p>
            <a:pPr lvl="0"/>
            <a:r>
              <a:rPr lang="ru-RU" dirty="0" err="1"/>
              <a:t>ResumableFunctions</a:t>
            </a:r>
            <a:r>
              <a:rPr lang="ru-RU" dirty="0"/>
              <a:t> — моделирование процессов;</a:t>
            </a:r>
          </a:p>
          <a:p>
            <a:pPr lvl="0"/>
            <a:r>
              <a:rPr lang="ru-RU" dirty="0" err="1"/>
              <a:t>StableRNGs</a:t>
            </a:r>
            <a:r>
              <a:rPr lang="ru-RU" dirty="0"/>
              <a:t> — генерация воспроизводимых случайных чисел;</a:t>
            </a:r>
          </a:p>
          <a:p>
            <a:pPr lvl="0"/>
            <a:r>
              <a:rPr lang="ru-RU" dirty="0" err="1"/>
              <a:t>DataFrames</a:t>
            </a:r>
            <a:r>
              <a:rPr lang="ru-RU" dirty="0"/>
              <a:t>, CSV — обработка результатов;</a:t>
            </a:r>
          </a:p>
          <a:p>
            <a:pPr lvl="0"/>
            <a:r>
              <a:rPr lang="ru-RU" dirty="0" err="1"/>
              <a:t>Plots</a:t>
            </a:r>
            <a:r>
              <a:rPr lang="ru-RU" dirty="0"/>
              <a:t> — построение графиков;</a:t>
            </a:r>
          </a:p>
          <a:p>
            <a:pPr lvl="0"/>
            <a:r>
              <a:rPr lang="ru-RU" dirty="0" err="1"/>
              <a:t>DrWatson</a:t>
            </a:r>
            <a:r>
              <a:rPr lang="ru-RU" dirty="0"/>
              <a:t> — организация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30E5C-053F-5A6F-E3BA-A39AAE9A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247F7227-F2E7-AA19-F754-816843798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11" name="Объект 10">
            <a:extLst>
              <a:ext uri="{FF2B5EF4-FFF2-40B4-BE49-F238E27FC236}">
                <a16:creationId xmlns:a16="http://schemas.microsoft.com/office/drawing/2014/main" id="{E0E86957-A143-F99D-9D43-DBBB58DD9AC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2760345"/>
          <a:ext cx="1005840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727126069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2314192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Параметр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Значение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181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Количество заявок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3652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Количество каналов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6367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0.9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3401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73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Seed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3185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6842789-747B-8B37-8A25-DB6B9CF46E5E}"/>
              </a:ext>
            </a:extLst>
          </p:cNvPr>
          <p:cNvSpPr txBox="1"/>
          <p:nvPr/>
        </p:nvSpPr>
        <p:spPr>
          <a:xfrm>
            <a:off x="3048000" y="32483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/>
              <a:t>Исходные параметры</a:t>
            </a:r>
          </a:p>
        </p:txBody>
      </p:sp>
    </p:spTree>
    <p:extLst>
      <p:ext uri="{BB962C8B-B14F-4D97-AF65-F5344CB8AC3E}">
        <p14:creationId xmlns:p14="http://schemas.microsoft.com/office/powerpoint/2010/main" val="732051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81069-BBE0-528B-73FE-2B71B19E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67355-ED20-8E73-C497-0893DC31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Случай 1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C177EA9-F10A-A9C3-88A3-B6694BA26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01E131-3967-911D-1A22-A3485891D05E}"/>
              </a:ext>
            </a:extLst>
          </p:cNvPr>
          <p:cNvSpPr txBox="1"/>
          <p:nvPr/>
        </p:nvSpPr>
        <p:spPr>
          <a:xfrm>
            <a:off x="3048000" y="1309352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@yield </a:t>
            </a:r>
            <a:r>
              <a:rPr lang="ru-RU" dirty="0" err="1"/>
              <a:t>request</a:t>
            </a:r>
            <a:r>
              <a:rPr lang="ru-RU" dirty="0"/>
              <a:t>(</a:t>
            </a:r>
            <a:r>
              <a:rPr lang="ru-RU" dirty="0" err="1"/>
              <a:t>server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dirty="0" err="1"/>
              <a:t>t_start</a:t>
            </a:r>
            <a:r>
              <a:rPr lang="ru-RU" dirty="0"/>
              <a:t> = </a:t>
            </a:r>
            <a:r>
              <a:rPr lang="ru-RU" dirty="0" err="1"/>
              <a:t>now</a:t>
            </a:r>
            <a:r>
              <a:rPr lang="ru-RU" dirty="0"/>
              <a:t>(</a:t>
            </a:r>
            <a:r>
              <a:rPr lang="ru-RU" dirty="0" err="1"/>
              <a:t>env</a:t>
            </a:r>
            <a:r>
              <a:rPr lang="ru-RU" dirty="0"/>
              <a:t>)</a:t>
            </a:r>
          </a:p>
          <a:p>
            <a:r>
              <a:rPr lang="ru-RU" dirty="0" err="1"/>
              <a:t>push</a:t>
            </a:r>
            <a:r>
              <a:rPr lang="ru-RU" dirty="0"/>
              <a:t>!(</a:t>
            </a:r>
            <a:r>
              <a:rPr lang="ru-RU" dirty="0" err="1"/>
              <a:t>starts</a:t>
            </a:r>
            <a:r>
              <a:rPr lang="ru-RU" dirty="0"/>
              <a:t>, </a:t>
            </a:r>
            <a:r>
              <a:rPr lang="ru-RU" dirty="0" err="1"/>
              <a:t>t_start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dirty="0" err="1"/>
              <a:t>push</a:t>
            </a:r>
            <a:r>
              <a:rPr lang="ru-RU" dirty="0"/>
              <a:t>!(</a:t>
            </a:r>
            <a:r>
              <a:rPr lang="ru-RU" dirty="0" err="1"/>
              <a:t>waits</a:t>
            </a:r>
            <a:r>
              <a:rPr lang="ru-RU" dirty="0"/>
              <a:t>, </a:t>
            </a:r>
            <a:r>
              <a:rPr lang="ru-RU" dirty="0" err="1"/>
              <a:t>t_start</a:t>
            </a:r>
            <a:r>
              <a:rPr lang="ru-RU" dirty="0"/>
              <a:t> - </a:t>
            </a:r>
            <a:r>
              <a:rPr lang="ru-RU" dirty="0" err="1"/>
              <a:t>t_request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dirty="0" err="1"/>
              <a:t>service_time</a:t>
            </a:r>
            <a:r>
              <a:rPr lang="ru-RU" dirty="0"/>
              <a:t> = </a:t>
            </a:r>
            <a:r>
              <a:rPr lang="ru-RU" dirty="0" err="1"/>
              <a:t>rand</a:t>
            </a:r>
            <a:r>
              <a:rPr lang="ru-RU" dirty="0"/>
              <a:t>(</a:t>
            </a:r>
            <a:r>
              <a:rPr lang="ru-RU" dirty="0" err="1"/>
              <a:t>service_dist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dirty="0"/>
              <a:t>@yield </a:t>
            </a:r>
            <a:r>
              <a:rPr lang="ru-RU" dirty="0" err="1"/>
              <a:t>timeout</a:t>
            </a:r>
            <a:r>
              <a:rPr lang="ru-RU" dirty="0"/>
              <a:t>(</a:t>
            </a:r>
            <a:r>
              <a:rPr lang="ru-RU" dirty="0" err="1"/>
              <a:t>env</a:t>
            </a:r>
            <a:r>
              <a:rPr lang="ru-RU" dirty="0"/>
              <a:t>, </a:t>
            </a:r>
            <a:r>
              <a:rPr lang="ru-RU" dirty="0" err="1"/>
              <a:t>service_time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dirty="0" err="1"/>
              <a:t>t_finish</a:t>
            </a:r>
            <a:r>
              <a:rPr lang="ru-RU" dirty="0"/>
              <a:t> = </a:t>
            </a:r>
            <a:r>
              <a:rPr lang="ru-RU" dirty="0" err="1"/>
              <a:t>now</a:t>
            </a:r>
            <a:r>
              <a:rPr lang="ru-RU" dirty="0"/>
              <a:t>(</a:t>
            </a:r>
            <a:r>
              <a:rPr lang="ru-RU" dirty="0" err="1"/>
              <a:t>env</a:t>
            </a:r>
            <a:r>
              <a:rPr lang="ru-RU" dirty="0"/>
              <a:t>)</a:t>
            </a:r>
          </a:p>
          <a:p>
            <a:r>
              <a:rPr lang="ru-RU" dirty="0" err="1"/>
              <a:t>push</a:t>
            </a:r>
            <a:r>
              <a:rPr lang="ru-RU" dirty="0"/>
              <a:t>!(</a:t>
            </a:r>
            <a:r>
              <a:rPr lang="ru-RU" dirty="0" err="1"/>
              <a:t>finishes</a:t>
            </a:r>
            <a:r>
              <a:rPr lang="ru-RU" dirty="0"/>
              <a:t>, </a:t>
            </a:r>
            <a:r>
              <a:rPr lang="ru-RU" dirty="0" err="1"/>
              <a:t>t_finish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dirty="0"/>
              <a:t>@yield </a:t>
            </a:r>
            <a:r>
              <a:rPr lang="ru-RU" dirty="0" err="1"/>
              <a:t>unlock</a:t>
            </a:r>
            <a:r>
              <a:rPr lang="ru-RU" dirty="0"/>
              <a:t>(</a:t>
            </a:r>
            <a:r>
              <a:rPr lang="ru-RU" dirty="0" err="1"/>
              <a:t>server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76172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58ED-100F-B97E-8D3D-26AD1E866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373F7-1D26-E9A2-E23C-066AEC142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Случай 2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3839EF6-C0A0-9182-6CE4-48ED3F0D4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42" y="1964657"/>
            <a:ext cx="5715000" cy="3810000"/>
          </a:xfrm>
          <a:prstGeom prst="rect">
            <a:avLst/>
          </a:prstGeom>
        </p:spPr>
      </p:pic>
      <p:pic>
        <p:nvPicPr>
          <p:cNvPr id="9" name="Объект 8">
            <a:extLst>
              <a:ext uri="{FF2B5EF4-FFF2-40B4-BE49-F238E27FC236}">
                <a16:creationId xmlns:a16="http://schemas.microsoft.com/office/drawing/2014/main" id="{6FC81EB5-7168-486E-382F-DBFA3D656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259" y="1964657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55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B7F8D-4CA4-B215-0C80-A959B451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BB426-ABB7-03B0-8373-0418D666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E45ABED-C6F0-9523-AB98-01F9C1BEE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889" y="2117558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226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926EC-2FC2-D940-9F35-A4E1523AE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9C9E87-3012-0EB4-7C02-5E841943E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98CFE4-87DD-951D-ADB5-24FB427DC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594" y="2117558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943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73B02-44F6-7910-165F-286696F85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293026-F689-6601-E64D-C215FE01A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B1BDBD8-815F-92BB-A076-1B29CB0FE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2165685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588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Полученные результаты показывают, что увеличение β приводит к более интенсивному распространению инфекции и увеличению масштаба эпидемии.</a:t>
            </a:r>
          </a:p>
          <a:p>
            <a:r>
              <a:rPr lang="ru-RU" dirty="0"/>
              <a:t>Таким образом, в работе была построена SIR-модель в виде сети Петри, реализованы два подхода к моделированию — детерминированный и стохастический, проведено их сравнение и исследовано влияние основного параметра заражения. Поставленная цель лабораторной работы была достигнута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</TotalTime>
  <Words>276</Words>
  <Application>Microsoft Office PowerPoint</Application>
  <PresentationFormat>Широкоэкранный</PresentationFormat>
  <Paragraphs>59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Calibri</vt:lpstr>
      <vt:lpstr>Calibri Light</vt:lpstr>
      <vt:lpstr>Ретро</vt:lpstr>
      <vt:lpstr>Лабораторная работа №7  Имитационное моделирование </vt:lpstr>
      <vt:lpstr>Цель</vt:lpstr>
      <vt:lpstr>Задачи</vt:lpstr>
      <vt:lpstr>Выполнение</vt:lpstr>
      <vt:lpstr>Презентация PowerPoint</vt:lpstr>
      <vt:lpstr>Случай 1</vt:lpstr>
      <vt:lpstr>Случай 2</vt:lpstr>
      <vt:lpstr>Выполнение</vt:lpstr>
      <vt:lpstr>Выполнение</vt:lpstr>
      <vt:lpstr>Выполнение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28</cp:revision>
  <dcterms:created xsi:type="dcterms:W3CDTF">2023-10-14T19:58:32Z</dcterms:created>
  <dcterms:modified xsi:type="dcterms:W3CDTF">2026-10-08T11:24:06Z</dcterms:modified>
</cp:coreProperties>
</file>