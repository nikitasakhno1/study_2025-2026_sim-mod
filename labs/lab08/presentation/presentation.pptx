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2" r:id="rId5"/>
    <p:sldId id="273" r:id="rId6"/>
    <p:sldId id="274" r:id="rId7"/>
    <p:sldId id="275" r:id="rId8"/>
    <p:sldId id="276" r:id="rId9"/>
    <p:sldId id="277" r:id="rId10"/>
    <p:sldId id="2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22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75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37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22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07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73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20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4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4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31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96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5" y="758952"/>
            <a:ext cx="11602065" cy="3566160"/>
          </a:xfrm>
        </p:spPr>
        <p:txBody>
          <a:bodyPr>
            <a:normAutofit/>
          </a:bodyPr>
          <a:lstStyle/>
          <a:p>
            <a:r>
              <a:rPr lang="ru-RU" b="1" dirty="0"/>
              <a:t>Лабораторная работа №</a:t>
            </a:r>
            <a:r>
              <a:rPr lang="en-US" b="1" dirty="0"/>
              <a:t>8</a:t>
            </a:r>
            <a:br>
              <a:rPr lang="ru-RU" b="1" dirty="0"/>
            </a:br>
            <a:r>
              <a:rPr lang="ru-RU" b="1" dirty="0"/>
              <a:t> </a:t>
            </a:r>
            <a:r>
              <a:rPr lang="ru-RU" sz="3100" b="1" dirty="0"/>
              <a:t>Имитационное моделирование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 </a:t>
            </a:r>
            <a:r>
              <a:rPr lang="ru-RU" dirty="0" err="1"/>
              <a:t>никита</a:t>
            </a:r>
            <a:r>
              <a:rPr lang="ru-RU" dirty="0"/>
              <a:t> 1132230298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071" y="2148763"/>
            <a:ext cx="7729728" cy="3101983"/>
          </a:xfrm>
        </p:spPr>
        <p:txBody>
          <a:bodyPr/>
          <a:lstStyle/>
          <a:p>
            <a:r>
              <a:rPr lang="ru-RU" dirty="0"/>
              <a:t>Изучить дискретно-событийный подход к моделированию процессов на примере стохастической SIR-модели.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Задачи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ED3936-E976-FA50-7AB2-BE6D49B80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pPr lvl="0"/>
            <a:r>
              <a:rPr lang="ru-RU" dirty="0"/>
              <a:t>реализовать SIR-модель в </a:t>
            </a:r>
            <a:r>
              <a:rPr lang="ru-RU" dirty="0" err="1"/>
              <a:t>Julia</a:t>
            </a:r>
            <a:r>
              <a:rPr lang="ru-RU" dirty="0"/>
              <a:t>;</a:t>
            </a:r>
          </a:p>
          <a:p>
            <a:pPr lvl="0"/>
            <a:r>
              <a:rPr lang="ru-RU" dirty="0"/>
              <a:t>использовать библиотеку </a:t>
            </a:r>
            <a:r>
              <a:rPr lang="ru-RU" dirty="0" err="1"/>
              <a:t>ConcurrentSim</a:t>
            </a:r>
            <a:r>
              <a:rPr lang="ru-RU" dirty="0"/>
              <a:t>;</a:t>
            </a:r>
          </a:p>
          <a:p>
            <a:pPr lvl="0"/>
            <a:r>
              <a:rPr lang="ru-RU" dirty="0"/>
              <a:t>реализовать события заражения и выздоровления;</a:t>
            </a:r>
          </a:p>
          <a:p>
            <a:pPr lvl="0"/>
            <a:r>
              <a:rPr lang="ru-RU" dirty="0"/>
              <a:t>провести моделирование на заданном временном интервале;</a:t>
            </a:r>
          </a:p>
          <a:p>
            <a:pPr lvl="0"/>
            <a:r>
              <a:rPr lang="ru-RU" dirty="0"/>
              <a:t>визуализировать динамику S, I и R;</a:t>
            </a:r>
          </a:p>
          <a:p>
            <a:pPr lvl="0"/>
            <a:r>
              <a:rPr lang="ru-RU" dirty="0"/>
              <a:t>исследовать влияние параметра β на распространение инфекции;</a:t>
            </a:r>
          </a:p>
          <a:p>
            <a:pPr lvl="0"/>
            <a:r>
              <a:rPr lang="ru-RU" dirty="0"/>
              <a:t>сравнить основные характеристики полученных сценариев.</a:t>
            </a:r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4547B48-987D-8DBE-820A-F8C2E4FC4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697" y="2198914"/>
            <a:ext cx="10301045" cy="367018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Для основного эксперимента использовались:</a:t>
            </a:r>
          </a:p>
          <a:p>
            <a:pPr lvl="0"/>
            <a:r>
              <a:rPr lang="ru-RU" dirty="0"/>
              <a:t>начальное количество восприимчивых: </a:t>
            </a:r>
            <a:r>
              <a:rPr lang="ru-RU" b="1" dirty="0"/>
              <a:t>S₀ = 990</a:t>
            </a:r>
            <a:r>
              <a:rPr lang="ru-RU" dirty="0"/>
              <a:t>;</a:t>
            </a:r>
          </a:p>
          <a:p>
            <a:pPr lvl="0"/>
            <a:r>
              <a:rPr lang="ru-RU" dirty="0"/>
              <a:t>начальное количество инфицированных: </a:t>
            </a:r>
            <a:r>
              <a:rPr lang="ru-RU" b="1" dirty="0"/>
              <a:t>I₀ = 10</a:t>
            </a:r>
            <a:r>
              <a:rPr lang="ru-RU" dirty="0"/>
              <a:t>;</a:t>
            </a:r>
          </a:p>
          <a:p>
            <a:pPr lvl="0"/>
            <a:r>
              <a:rPr lang="ru-RU" dirty="0"/>
              <a:t>выздоровевшие: </a:t>
            </a:r>
            <a:r>
              <a:rPr lang="ru-RU" b="1" dirty="0"/>
              <a:t>R₀ = 0</a:t>
            </a:r>
            <a:r>
              <a:rPr lang="ru-RU" dirty="0"/>
              <a:t>;</a:t>
            </a:r>
          </a:p>
          <a:p>
            <a:pPr lvl="0"/>
            <a:r>
              <a:rPr lang="ru-RU" dirty="0"/>
              <a:t>вероятность заражения при контакте: </a:t>
            </a:r>
            <a:r>
              <a:rPr lang="ru-RU" b="1" dirty="0"/>
              <a:t>β = 0,05</a:t>
            </a:r>
            <a:r>
              <a:rPr lang="ru-RU" dirty="0"/>
              <a:t>;</a:t>
            </a:r>
          </a:p>
          <a:p>
            <a:pPr lvl="0"/>
            <a:r>
              <a:rPr lang="ru-RU" dirty="0"/>
              <a:t>интенсивность контактов: </a:t>
            </a:r>
            <a:r>
              <a:rPr lang="ru-RU" b="1" dirty="0"/>
              <a:t>c = 10</a:t>
            </a:r>
            <a:r>
              <a:rPr lang="ru-RU" dirty="0"/>
              <a:t>;</a:t>
            </a:r>
          </a:p>
          <a:p>
            <a:pPr lvl="0"/>
            <a:r>
              <a:rPr lang="ru-RU" dirty="0"/>
              <a:t>интенсивность выздоровления: </a:t>
            </a:r>
            <a:r>
              <a:rPr lang="ru-RU" b="1" dirty="0"/>
              <a:t>γ = 0,25</a:t>
            </a:r>
            <a:r>
              <a:rPr lang="ru-RU" dirty="0"/>
              <a:t>;</a:t>
            </a:r>
          </a:p>
          <a:p>
            <a:pPr lvl="0"/>
            <a:r>
              <a:rPr lang="ru-RU" dirty="0"/>
              <a:t>время моделирования: </a:t>
            </a:r>
            <a:r>
              <a:rPr lang="ru-RU" b="1" dirty="0"/>
              <a:t>T = 40</a:t>
            </a:r>
            <a:r>
              <a:rPr lang="ru-RU" dirty="0"/>
              <a:t>;</a:t>
            </a:r>
          </a:p>
          <a:p>
            <a:pPr lvl="0"/>
            <a:r>
              <a:rPr lang="ru-RU" dirty="0"/>
              <a:t>начальное состояние генератора случайных чисел: </a:t>
            </a:r>
            <a:r>
              <a:rPr lang="ru-RU" b="1" dirty="0"/>
              <a:t>1234</a:t>
            </a:r>
            <a:r>
              <a:rPr lang="ru-RU" dirty="0"/>
              <a:t>.</a:t>
            </a:r>
          </a:p>
          <a:p>
            <a:r>
              <a:rPr lang="ru-RU" dirty="0"/>
              <a:t>Общая численность населения:</a:t>
            </a:r>
          </a:p>
          <a:p>
            <a:r>
              <a:rPr lang="ru-RU" b="1" dirty="0"/>
              <a:t>N = 1000 человек.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0E5C-053F-5A6F-E3BA-A39AAE9A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247F7227-F2E7-AA19-F754-816843798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CE502A-6D90-E0FF-66B6-F01FC5041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24515"/>
            <a:ext cx="10058400" cy="4023360"/>
          </a:xfrm>
        </p:spPr>
        <p:txBody>
          <a:bodyPr/>
          <a:lstStyle/>
          <a:p>
            <a:r>
              <a:rPr lang="ru-RU" dirty="0"/>
              <a:t>Для реализации использовались:</a:t>
            </a:r>
          </a:p>
          <a:p>
            <a:pPr lvl="0"/>
            <a:r>
              <a:rPr lang="ru-RU" dirty="0" err="1"/>
              <a:t>ConcurrentSim</a:t>
            </a:r>
            <a:r>
              <a:rPr lang="ru-RU" dirty="0"/>
              <a:t> — дискретно-событийное моделирование;</a:t>
            </a:r>
          </a:p>
          <a:p>
            <a:pPr lvl="0"/>
            <a:r>
              <a:rPr lang="ru-RU" dirty="0" err="1"/>
              <a:t>ResumableFunctions</a:t>
            </a:r>
            <a:r>
              <a:rPr lang="ru-RU" dirty="0"/>
              <a:t> — процессы с событиями ожидания;</a:t>
            </a:r>
          </a:p>
          <a:p>
            <a:pPr lvl="0"/>
            <a:r>
              <a:rPr lang="ru-RU" dirty="0" err="1"/>
              <a:t>Distributions</a:t>
            </a:r>
            <a:r>
              <a:rPr lang="ru-RU" dirty="0"/>
              <a:t> — случайные распределения;</a:t>
            </a:r>
          </a:p>
          <a:p>
            <a:pPr lvl="0"/>
            <a:r>
              <a:rPr lang="ru-RU" dirty="0" err="1"/>
              <a:t>DataFrames</a:t>
            </a:r>
            <a:r>
              <a:rPr lang="ru-RU" dirty="0"/>
              <a:t> — хранение результатов;</a:t>
            </a:r>
          </a:p>
          <a:p>
            <a:pPr lvl="0"/>
            <a:r>
              <a:rPr lang="ru-RU" dirty="0" err="1"/>
              <a:t>StatsPlots</a:t>
            </a:r>
            <a:r>
              <a:rPr lang="ru-RU" dirty="0"/>
              <a:t> — построение графиков.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205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1069-BBE0-528B-73FE-2B71B19E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67355-ED20-8E73-C497-0893DC31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Случай 1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177EA9-F10A-A9C3-88A3-B6694BA26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1E131-3967-911D-1A22-A3485891D05E}"/>
              </a:ext>
            </a:extLst>
          </p:cNvPr>
          <p:cNvSpPr txBox="1"/>
          <p:nvPr/>
        </p:nvSpPr>
        <p:spPr>
          <a:xfrm>
            <a:off x="1347537" y="1845734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Слайд 7 — Алгоритм работы модели</a:t>
            </a:r>
          </a:p>
          <a:p>
            <a:pPr lvl="0"/>
            <a:r>
              <a:rPr lang="ru-RU" dirty="0"/>
              <a:t>Создаётся модель с начальными значениями S, I и R.</a:t>
            </a:r>
          </a:p>
          <a:p>
            <a:pPr lvl="0"/>
            <a:r>
              <a:rPr lang="ru-RU" dirty="0"/>
              <a:t>Для каждого человека запускается процесс </a:t>
            </a:r>
            <a:r>
              <a:rPr lang="ru-RU" dirty="0" err="1"/>
              <a:t>live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Восприимчивый человек ожидает случайное время до контакта.</a:t>
            </a:r>
          </a:p>
          <a:p>
            <a:pPr lvl="0"/>
            <a:r>
              <a:rPr lang="ru-RU" dirty="0"/>
              <a:t>Выбирается случайный человек из популяции.</a:t>
            </a:r>
          </a:p>
          <a:p>
            <a:pPr lvl="0"/>
            <a:r>
              <a:rPr lang="ru-RU" dirty="0"/>
              <a:t>Если выбранный человек инфицирован, проверяется вероятность заражения β.</a:t>
            </a:r>
          </a:p>
          <a:p>
            <a:pPr lvl="0"/>
            <a:r>
              <a:rPr lang="ru-RU" dirty="0"/>
              <a:t>При заражении изменяются значения S и I.</a:t>
            </a:r>
          </a:p>
          <a:p>
            <a:pPr lvl="0"/>
            <a:r>
              <a:rPr lang="ru-RU" dirty="0"/>
              <a:t>Инфицированный человек ожидает случайное время выздоровления.</a:t>
            </a:r>
          </a:p>
          <a:p>
            <a:pPr lvl="0"/>
            <a:r>
              <a:rPr lang="ru-RU" dirty="0"/>
              <a:t>После выздоровления изменяются значения I и R.</a:t>
            </a:r>
          </a:p>
          <a:p>
            <a:pPr lvl="0"/>
            <a:r>
              <a:rPr lang="ru-RU" dirty="0"/>
              <a:t>Процесс продолжается до времени </a:t>
            </a:r>
            <a:r>
              <a:rPr lang="ru-RU" b="1" dirty="0"/>
              <a:t>T = 40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617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58ED-100F-B97E-8D3D-26AD1E86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373F7-1D26-E9A2-E23C-066AEC14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Случай 2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495EDD-C366-1C6E-A0C8-DE3FBC6BD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2117558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55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B7F8D-4CA4-B215-0C80-A959B451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BB426-ABB7-03B0-8373-0418D666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/>
              <a:t>Выполнение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2DF8FC-E16D-9F42-4D18-133ED18E8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2197769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26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926EC-2FC2-D940-9F35-A4E1523AE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C9E87-3012-0EB4-7C02-5E841943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D17CF8-136A-554B-EAB0-AC9EEDC3D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2181726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4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ходе лабораторной работы была реализована стохастическая SIR-модель с использованием дискретно-событийного подхода.</a:t>
            </a:r>
          </a:p>
          <a:p>
            <a:r>
              <a:rPr lang="ru-RU" dirty="0"/>
              <a:t>Были реализованы события </a:t>
            </a:r>
            <a:r>
              <a:rPr lang="ru-RU" b="1" dirty="0"/>
              <a:t>заражения</a:t>
            </a:r>
            <a:r>
              <a:rPr lang="ru-RU" dirty="0"/>
              <a:t> и </a:t>
            </a:r>
            <a:r>
              <a:rPr lang="ru-RU" b="1" dirty="0"/>
              <a:t>выздоровления</a:t>
            </a:r>
            <a:r>
              <a:rPr lang="ru-RU" dirty="0"/>
              <a:t>, проведено моделирование распространения инфекции и построены графики изменения состояний S, I и R.</a:t>
            </a:r>
          </a:p>
          <a:p>
            <a:r>
              <a:rPr lang="ru-RU" dirty="0"/>
              <a:t>Дополнительно исследовано влияние параметра </a:t>
            </a:r>
            <a:r>
              <a:rPr lang="ru-RU" b="1" dirty="0"/>
              <a:t>β</a:t>
            </a:r>
            <a:r>
              <a:rPr lang="ru-RU" dirty="0"/>
              <a:t>. </a:t>
            </a:r>
            <a:r>
              <a:rPr lang="ru-RU"/>
              <a:t>Полученные результаты показывают, что изменение вероятности заражения существенно влияет на динамику эпидемического процесса.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326</Words>
  <Application>Microsoft Office PowerPoint</Application>
  <PresentationFormat>Широкоэкранный</PresentationFormat>
  <Paragraphs>49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Ретро</vt:lpstr>
      <vt:lpstr>Лабораторная работа №8  Имитационное моделирование </vt:lpstr>
      <vt:lpstr>Цель</vt:lpstr>
      <vt:lpstr>Задачи</vt:lpstr>
      <vt:lpstr>Выполнение</vt:lpstr>
      <vt:lpstr>Презентация PowerPoint</vt:lpstr>
      <vt:lpstr>Случай 1</vt:lpstr>
      <vt:lpstr>Случай 2</vt:lpstr>
      <vt:lpstr>Выполнение</vt:lpstr>
      <vt:lpstr>Выполнение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28</cp:revision>
  <dcterms:created xsi:type="dcterms:W3CDTF">2023-10-14T19:58:32Z</dcterms:created>
  <dcterms:modified xsi:type="dcterms:W3CDTF">2026-10-08T12:17:03Z</dcterms:modified>
</cp:coreProperties>
</file>