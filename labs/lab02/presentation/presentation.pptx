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65" dt="2026-10-08T06:53:09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№2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 err="1"/>
              <a:t>Иммитационное</a:t>
            </a:r>
            <a:r>
              <a:rPr lang="ru-RU" sz="3100" b="1" dirty="0"/>
              <a:t>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Исследовать динамические системы средствами имитационного моделирования на языке </a:t>
            </a:r>
            <a:r>
              <a:rPr lang="ru-RU" dirty="0" err="1"/>
              <a:t>Julia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реализовать модель SIR;</a:t>
            </a:r>
          </a:p>
          <a:p>
            <a:pPr lvl="0"/>
            <a:r>
              <a:rPr lang="ru-RU" dirty="0"/>
              <a:t>реализовать модель Лотки–Вольтерры;</a:t>
            </a:r>
          </a:p>
          <a:p>
            <a:pPr lvl="0"/>
            <a:r>
              <a:rPr lang="ru-RU" dirty="0"/>
              <a:t>выполнить численное решение систем ОДУ;</a:t>
            </a:r>
          </a:p>
          <a:p>
            <a:pPr lvl="0"/>
            <a:r>
              <a:rPr lang="ru-RU" dirty="0"/>
              <a:t>построить графики результатов;</a:t>
            </a:r>
          </a:p>
          <a:p>
            <a:pPr lvl="0"/>
            <a:r>
              <a:rPr lang="ru-RU" dirty="0"/>
              <a:t>провести анализ полученных данных;</a:t>
            </a:r>
          </a:p>
          <a:p>
            <a:pPr lvl="0"/>
            <a:r>
              <a:rPr lang="ru-RU" dirty="0"/>
              <a:t>выполнить параметрический анализ;</a:t>
            </a:r>
          </a:p>
          <a:p>
            <a:pPr lvl="0"/>
            <a:r>
              <a:rPr lang="ru-RU" dirty="0"/>
              <a:t>подготовить код в литературном стиле с использованием </a:t>
            </a:r>
            <a:r>
              <a:rPr lang="ru-RU" dirty="0" err="1"/>
              <a:t>Literate</a:t>
            </a:r>
            <a:r>
              <a:rPr lang="ru-RU" dirty="0"/>
              <a:t> и </a:t>
            </a:r>
            <a:r>
              <a:rPr lang="ru-RU" dirty="0" err="1"/>
              <a:t>Quarto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Популяция разделяется на три группы:</a:t>
            </a:r>
          </a:p>
          <a:p>
            <a:pPr lvl="0"/>
            <a:r>
              <a:rPr lang="ru-RU" b="1" dirty="0"/>
              <a:t>S</a:t>
            </a:r>
            <a:r>
              <a:rPr lang="ru-RU" dirty="0"/>
              <a:t> — восприимчивые к заболеванию;</a:t>
            </a:r>
          </a:p>
          <a:p>
            <a:pPr lvl="0"/>
            <a:r>
              <a:rPr lang="ru-RU" b="1" dirty="0"/>
              <a:t>I</a:t>
            </a:r>
            <a:r>
              <a:rPr lang="ru-RU" dirty="0"/>
              <a:t> — инфицированные;</a:t>
            </a:r>
          </a:p>
          <a:p>
            <a:pPr lvl="0"/>
            <a:r>
              <a:rPr lang="ru-RU" b="1" dirty="0"/>
              <a:t>R</a:t>
            </a:r>
            <a:r>
              <a:rPr lang="ru-RU" dirty="0"/>
              <a:t> — выздоровевшие.</a:t>
            </a:r>
          </a:p>
          <a:p>
            <a:r>
              <a:rPr lang="ru-RU" dirty="0"/>
              <a:t>Общая численность:</a:t>
            </a:r>
          </a:p>
          <a:p>
            <a:r>
              <a:rPr lang="ru-RU" b="1" dirty="0"/>
              <a:t>N = S + I + R</a:t>
            </a:r>
            <a:endParaRPr lang="ru-RU" dirty="0"/>
          </a:p>
          <a:p>
            <a:r>
              <a:rPr lang="ru-RU" dirty="0"/>
              <a:t>Система уравнений:</a:t>
            </a:r>
          </a:p>
          <a:p>
            <a:r>
              <a:rPr lang="ru-RU" b="1" dirty="0" err="1"/>
              <a:t>dS</a:t>
            </a:r>
            <a:r>
              <a:rPr lang="ru-RU" b="1" dirty="0"/>
              <a:t>/</a:t>
            </a:r>
            <a:r>
              <a:rPr lang="ru-RU" b="1" dirty="0" err="1"/>
              <a:t>dt</a:t>
            </a:r>
            <a:r>
              <a:rPr lang="ru-RU" b="1" dirty="0"/>
              <a:t> = −β·</a:t>
            </a:r>
            <a:r>
              <a:rPr lang="ru-RU" b="1" dirty="0" err="1"/>
              <a:t>c·I</a:t>
            </a:r>
            <a:r>
              <a:rPr lang="ru-RU" b="1" dirty="0"/>
              <a:t>/N·S</a:t>
            </a:r>
            <a:endParaRPr lang="ru-RU" dirty="0"/>
          </a:p>
          <a:p>
            <a:r>
              <a:rPr lang="ru-RU" b="1" dirty="0" err="1"/>
              <a:t>dI</a:t>
            </a:r>
            <a:r>
              <a:rPr lang="ru-RU" b="1" dirty="0"/>
              <a:t>/</a:t>
            </a:r>
            <a:r>
              <a:rPr lang="ru-RU" b="1" dirty="0" err="1"/>
              <a:t>dt</a:t>
            </a:r>
            <a:r>
              <a:rPr lang="ru-RU" b="1" dirty="0"/>
              <a:t> = β·</a:t>
            </a:r>
            <a:r>
              <a:rPr lang="ru-RU" b="1" dirty="0" err="1"/>
              <a:t>c·I</a:t>
            </a:r>
            <a:r>
              <a:rPr lang="ru-RU" b="1" dirty="0"/>
              <a:t>/N·S − </a:t>
            </a:r>
            <a:r>
              <a:rPr lang="ru-RU" b="1" dirty="0" err="1"/>
              <a:t>γ·I</a:t>
            </a:r>
            <a:endParaRPr lang="ru-RU" dirty="0"/>
          </a:p>
          <a:p>
            <a:r>
              <a:rPr lang="ru-RU" b="1" dirty="0" err="1"/>
              <a:t>dR</a:t>
            </a:r>
            <a:r>
              <a:rPr lang="ru-RU" b="1" dirty="0"/>
              <a:t>/</a:t>
            </a:r>
            <a:r>
              <a:rPr lang="ru-RU" b="1" dirty="0" err="1"/>
              <a:t>dt</a:t>
            </a:r>
            <a:r>
              <a:rPr lang="ru-RU" b="1" dirty="0"/>
              <a:t> = </a:t>
            </a:r>
            <a:r>
              <a:rPr lang="ru-RU" b="1" dirty="0" err="1"/>
              <a:t>γ·I</a:t>
            </a:r>
            <a:endParaRPr lang="ru-RU" dirty="0"/>
          </a:p>
          <a:p>
            <a:r>
              <a:rPr lang="ru-RU" dirty="0"/>
              <a:t>Базовое репродуктивное число:</a:t>
            </a:r>
          </a:p>
          <a:p>
            <a:r>
              <a:rPr lang="ru-RU" b="1" dirty="0"/>
              <a:t>R₀ = c·β/γ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1" dirty="0"/>
              <a:t>Начальные условия:</a:t>
            </a:r>
            <a:endParaRPr lang="ru-RU" dirty="0"/>
          </a:p>
          <a:p>
            <a:r>
              <a:rPr lang="ru-RU" b="1" dirty="0"/>
              <a:t>S₀ = 990</a:t>
            </a:r>
            <a:endParaRPr lang="ru-RU" dirty="0"/>
          </a:p>
          <a:p>
            <a:r>
              <a:rPr lang="ru-RU" b="1" dirty="0"/>
              <a:t>I₀ = 10</a:t>
            </a:r>
            <a:endParaRPr lang="ru-RU" dirty="0"/>
          </a:p>
          <a:p>
            <a:r>
              <a:rPr lang="ru-RU" b="1" dirty="0"/>
              <a:t>R₀ = 0</a:t>
            </a:r>
            <a:endParaRPr lang="ru-RU" dirty="0"/>
          </a:p>
          <a:p>
            <a:r>
              <a:rPr lang="ru-RU" b="1" dirty="0"/>
              <a:t>Параметры модели:</a:t>
            </a:r>
            <a:endParaRPr lang="ru-RU" dirty="0"/>
          </a:p>
          <a:p>
            <a:r>
              <a:rPr lang="ru-RU" b="1" dirty="0"/>
              <a:t>β = 0.05</a:t>
            </a:r>
            <a:endParaRPr lang="ru-RU" dirty="0"/>
          </a:p>
          <a:p>
            <a:r>
              <a:rPr lang="ru-RU" b="1" dirty="0"/>
              <a:t>c = 10</a:t>
            </a:r>
            <a:endParaRPr lang="ru-RU" dirty="0"/>
          </a:p>
          <a:p>
            <a:r>
              <a:rPr lang="ru-RU" b="1" dirty="0"/>
              <a:t>γ = 0.25</a:t>
            </a:r>
            <a:endParaRPr lang="ru-RU" dirty="0"/>
          </a:p>
          <a:p>
            <a:r>
              <a:rPr lang="ru-RU" b="1" dirty="0"/>
              <a:t>Временной интервал:</a:t>
            </a:r>
            <a:endParaRPr lang="ru-RU" dirty="0"/>
          </a:p>
          <a:p>
            <a:r>
              <a:rPr lang="ru-RU" b="1" dirty="0"/>
              <a:t>t ∈ [0; 40]</a:t>
            </a:r>
            <a:endParaRPr lang="ru-RU" dirty="0"/>
          </a:p>
          <a:p>
            <a:r>
              <a:rPr lang="ru-RU" b="1" dirty="0"/>
              <a:t>Шаг интегрирования:</a:t>
            </a:r>
            <a:endParaRPr lang="ru-RU" dirty="0"/>
          </a:p>
          <a:p>
            <a:r>
              <a:rPr lang="ru-RU" b="1" dirty="0" err="1"/>
              <a:t>Δt</a:t>
            </a:r>
            <a:r>
              <a:rPr lang="ru-RU" b="1" dirty="0"/>
              <a:t> = 0.1</a:t>
            </a:r>
            <a:endParaRPr lang="ru-RU" dirty="0"/>
          </a:p>
          <a:p>
            <a:r>
              <a:rPr lang="ru-RU" dirty="0"/>
              <a:t>Для заданных параметров:</a:t>
            </a:r>
          </a:p>
          <a:p>
            <a:r>
              <a:rPr lang="ru-RU" b="1" dirty="0"/>
              <a:t>R₀ = (10 · 0.05) / 0.25 =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85A50-B2E6-9DAB-9156-48EF292F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Получены следующие результаты:</a:t>
            </a:r>
            <a:endParaRPr lang="ru-RU" dirty="0"/>
          </a:p>
          <a:p>
            <a:pPr lvl="0"/>
            <a:r>
              <a:rPr lang="ru-RU" dirty="0"/>
              <a:t>построена динамика S, I и R;</a:t>
            </a:r>
          </a:p>
          <a:p>
            <a:pPr lvl="0"/>
            <a:r>
              <a:rPr lang="ru-RU" dirty="0"/>
              <a:t>исследовано изменение количества инфицированных;</a:t>
            </a:r>
          </a:p>
          <a:p>
            <a:pPr lvl="0"/>
            <a:r>
              <a:rPr lang="ru-RU" dirty="0"/>
              <a:t>построены процентные зависимости;</a:t>
            </a:r>
          </a:p>
          <a:p>
            <a:pPr lvl="0"/>
            <a:r>
              <a:rPr lang="ru-RU" dirty="0"/>
              <a:t>построен фазовый портрет;</a:t>
            </a:r>
          </a:p>
          <a:p>
            <a:pPr lvl="0"/>
            <a:r>
              <a:rPr lang="ru-RU" dirty="0"/>
              <a:t>рассчитано эффективное репродуктивное число;</a:t>
            </a:r>
          </a:p>
          <a:p>
            <a:pPr lvl="0"/>
            <a:r>
              <a:rPr lang="ru-RU" dirty="0"/>
              <a:t>проверено сохранение общей численности населения.</a:t>
            </a:r>
          </a:p>
          <a:p>
            <a:r>
              <a:rPr lang="ru-RU" b="1" dirty="0"/>
              <a:t>Вывод:</a:t>
            </a:r>
            <a:br>
              <a:rPr lang="ru-RU" dirty="0"/>
            </a:br>
            <a:r>
              <a:rPr lang="ru-RU" dirty="0"/>
              <a:t>Инфекция распространяется по популяции, число восприимчивых уменьшается,</a:t>
            </a:r>
            <a:br>
              <a:rPr lang="ru-RU" dirty="0"/>
            </a:br>
            <a:r>
              <a:rPr lang="ru-RU" dirty="0"/>
              <a:t>а число выздоровевших постепенно увеличивается.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C53404-2021-B975-D678-2249043BB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Модель описывает взаимодействие двух популяций:</a:t>
            </a:r>
          </a:p>
          <a:p>
            <a:pPr lvl="0"/>
            <a:r>
              <a:rPr lang="ru-RU" b="1" dirty="0"/>
              <a:t>x</a:t>
            </a:r>
            <a:r>
              <a:rPr lang="ru-RU" dirty="0"/>
              <a:t> — жертвы;</a:t>
            </a:r>
          </a:p>
          <a:p>
            <a:pPr lvl="0"/>
            <a:r>
              <a:rPr lang="ru-RU" b="1" dirty="0"/>
              <a:t>y</a:t>
            </a:r>
            <a:r>
              <a:rPr lang="ru-RU" dirty="0"/>
              <a:t> — хищники.</a:t>
            </a:r>
          </a:p>
          <a:p>
            <a:r>
              <a:rPr lang="ru-RU" dirty="0"/>
              <a:t>Система уравнений:</a:t>
            </a:r>
          </a:p>
          <a:p>
            <a:r>
              <a:rPr lang="ru-RU" b="1" dirty="0" err="1"/>
              <a:t>dx</a:t>
            </a:r>
            <a:r>
              <a:rPr lang="ru-RU" b="1" dirty="0"/>
              <a:t>/</a:t>
            </a:r>
            <a:r>
              <a:rPr lang="ru-RU" b="1" dirty="0" err="1"/>
              <a:t>dt</a:t>
            </a:r>
            <a:r>
              <a:rPr lang="ru-RU" b="1" dirty="0"/>
              <a:t> = α·x − β·</a:t>
            </a:r>
            <a:r>
              <a:rPr lang="ru-RU" b="1" dirty="0" err="1"/>
              <a:t>x·y</a:t>
            </a:r>
            <a:endParaRPr lang="ru-RU" dirty="0"/>
          </a:p>
          <a:p>
            <a:r>
              <a:rPr lang="ru-RU" b="1" dirty="0" err="1"/>
              <a:t>dy</a:t>
            </a:r>
            <a:r>
              <a:rPr lang="ru-RU" b="1" dirty="0"/>
              <a:t>/</a:t>
            </a:r>
            <a:r>
              <a:rPr lang="ru-RU" b="1" dirty="0" err="1"/>
              <a:t>dt</a:t>
            </a:r>
            <a:r>
              <a:rPr lang="ru-RU" b="1" dirty="0"/>
              <a:t> = </a:t>
            </a:r>
            <a:r>
              <a:rPr lang="ru-RU" b="1" dirty="0" err="1"/>
              <a:t>δ·x·y</a:t>
            </a:r>
            <a:r>
              <a:rPr lang="ru-RU" b="1" dirty="0"/>
              <a:t> − </a:t>
            </a:r>
            <a:r>
              <a:rPr lang="ru-RU" b="1" dirty="0" err="1"/>
              <a:t>γ·y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C8DB8C-5A26-8AD8-A6B9-7B0F0F16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195D17-6363-C76C-6070-E041DA99BFEA}"/>
              </a:ext>
            </a:extLst>
          </p:cNvPr>
          <p:cNvSpPr txBox="1"/>
          <p:nvPr/>
        </p:nvSpPr>
        <p:spPr>
          <a:xfrm>
            <a:off x="3048000" y="241734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Стационарная точка модели:</a:t>
            </a:r>
          </a:p>
          <a:p>
            <a:pPr>
              <a:buNone/>
            </a:pPr>
            <a:r>
              <a:rPr lang="ru-RU" i="1" dirty="0"/>
              <a:t>x = γ/δ = 30</a:t>
            </a:r>
            <a:r>
              <a:rPr lang="ru-RU" dirty="0"/>
              <a:t>*</a:t>
            </a:r>
          </a:p>
          <a:p>
            <a:pPr>
              <a:buNone/>
            </a:pPr>
            <a:r>
              <a:rPr lang="ru-RU" i="1" dirty="0"/>
              <a:t>y = α/β = 5</a:t>
            </a:r>
            <a:r>
              <a:rPr lang="ru-RU" dirty="0"/>
              <a:t>*</a:t>
            </a:r>
          </a:p>
          <a:p>
            <a:pPr>
              <a:buNone/>
            </a:pPr>
            <a:r>
              <a:rPr lang="ru-RU" dirty="0"/>
              <a:t>Временной интервал:</a:t>
            </a:r>
          </a:p>
          <a:p>
            <a:pPr>
              <a:buNone/>
            </a:pPr>
            <a:r>
              <a:rPr lang="ru-RU" b="1" dirty="0"/>
              <a:t>t ∈ [0; 200]</a:t>
            </a:r>
            <a:endParaRPr lang="ru-RU" dirty="0"/>
          </a:p>
          <a:p>
            <a:pPr>
              <a:buNone/>
            </a:pPr>
            <a:r>
              <a:rPr lang="ru-RU" dirty="0"/>
              <a:t>Для численного решения использовался метод:</a:t>
            </a:r>
          </a:p>
          <a:p>
            <a:pPr>
              <a:buNone/>
            </a:pPr>
            <a:r>
              <a:rPr lang="ru-RU" b="1" dirty="0"/>
              <a:t>Tsit5()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3864-EC03-4ED0-3DF0-AA17F277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B95D3-7CD2-2388-585C-DA84B6B6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BE3C39E-2E79-14DC-23EE-982085860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19" y="1846263"/>
            <a:ext cx="60340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0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Таким образом, в ходе лабораторной работы были реализованы две динамические модели, выполнено их численное исследование и визуализация результатов.</a:t>
            </a:r>
          </a:p>
          <a:p>
            <a:r>
              <a:rPr lang="ru-RU" dirty="0"/>
              <a:t>Также был выполнен параметрический анализ и подготовлен воспроизводимый программный материал с использованием </a:t>
            </a:r>
            <a:r>
              <a:rPr lang="ru-RU" dirty="0" err="1"/>
              <a:t>Julia</a:t>
            </a:r>
            <a:r>
              <a:rPr lang="ru-RU" dirty="0"/>
              <a:t>, </a:t>
            </a:r>
            <a:r>
              <a:rPr lang="ru-RU" dirty="0" err="1"/>
              <a:t>Literate</a:t>
            </a:r>
            <a:r>
              <a:rPr lang="ru-RU" dirty="0"/>
              <a:t>, </a:t>
            </a:r>
            <a:r>
              <a:rPr lang="ru-RU" dirty="0" err="1"/>
              <a:t>Jupyter</a:t>
            </a:r>
            <a:r>
              <a:rPr lang="ru-RU" dirty="0"/>
              <a:t> и </a:t>
            </a:r>
            <a:r>
              <a:rPr lang="ru-RU" dirty="0" err="1"/>
              <a:t>Quarto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398</Words>
  <Application>Microsoft Office PowerPoint</Application>
  <PresentationFormat>Широкоэкранный</PresentationFormat>
  <Paragraphs>69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Ретро</vt:lpstr>
      <vt:lpstr>Лабораторная работа №2  Иммитационное моделирование </vt:lpstr>
      <vt:lpstr>Цель</vt:lpstr>
      <vt:lpstr>Задачи</vt:lpstr>
      <vt:lpstr>Выполнение</vt:lpstr>
      <vt:lpstr>Выполнение</vt:lpstr>
      <vt:lpstr>Случай 1</vt:lpstr>
      <vt:lpstr>Случай 2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2026-10-08T06:53:46Z</dcterms:modified>
</cp:coreProperties>
</file>